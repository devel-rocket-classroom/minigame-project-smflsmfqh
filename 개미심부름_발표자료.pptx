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28016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D780"/>
                </a:solidFill>
              </a:rPr>
              <a:t>개미 심부름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</a:rPr>
              <a:t>여보, 나 왔어!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63240"/>
            <a:ext cx="1145743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21868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3D 캐주얼 코믹 스텔스 어드벤처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CCCCCC"/>
                </a:solidFill>
              </a:rPr>
              <a:t>플랫폼: PC (Windows)  |  Unity 6.3  |  URP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943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이하늘  |  2026.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3C6E"/>
                </a:solidFill>
              </a:rPr>
              <a:t>PROJECT
DEMO
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30352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6479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80"/>
                </a:solidFill>
              </a:rPr>
              <a:t>01  게임 소개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39"/>
            <a:ext cx="530352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9067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80"/>
                </a:solidFill>
              </a:rPr>
              <a:t>02  구현 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530352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4165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80"/>
                </a:solidFill>
              </a:rPr>
              <a:t>03  개발 일정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36792" y="1508760"/>
            <a:ext cx="539496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647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80"/>
                </a:solidFill>
              </a:rPr>
              <a:t>04  구현 내용 상세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2834639"/>
            <a:ext cx="539496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0906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80"/>
                </a:solidFill>
              </a:rPr>
              <a:t>05  어려웠던 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4160520"/>
            <a:ext cx="539496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41655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80"/>
                </a:solidFill>
              </a:rPr>
              <a:t>06  느낀점  /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01  게임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Game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1097280"/>
          </a:xfrm>
          <a:prstGeom prst="rect">
            <a:avLst/>
          </a:prstGeom>
          <a:solidFill>
            <a:srgbClr val="0F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</a:rPr>
              <a:t>📖  스토리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어제 회식에서 만취해 집에 못 들어간 아빠 개미.
분노한 아내의 메신저 폭격을 받으며 도시 심부름을 마치고 황급히 개미굴로 귀가해야 한다!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24912"/>
            <a:ext cx="3639312" cy="3291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83464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🎯 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227832"/>
            <a:ext cx="3410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상점에서 아이템 픽업 (E키)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모든 미션 완료 후 개미굴 귀가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체력 0 → 게임 오버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724912"/>
            <a:ext cx="3639312" cy="3291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283464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⚠️  위협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227832"/>
            <a:ext cx="3410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사람 발 (NPC) 밟힘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고양이 머리박치기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자동차 충돌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724912"/>
            <a:ext cx="3639312" cy="32918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834640"/>
            <a:ext cx="34107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🕹️  핵심 액션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227832"/>
            <a:ext cx="341071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이동(WASD) / 달리기(Shift)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구르기(C) / 웅크리기(Ctrl)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▸ 픽업(E) / 점프(Space)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172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레퍼런스: Untitled Goose Game  |  장르: 3D 캐주얼 코믹 스텔스 어드벤처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02  구현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Implemented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2331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270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플레이어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20240"/>
            <a:ext cx="35204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WASD 이동 + 달리기/구르기/웅크리기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점프 + 물리 기반 충돌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숙취 디버프 시스템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체력 &amp; 무적 프레임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417320"/>
            <a:ext cx="3749039" cy="2331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4" y="15270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NPC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1920240"/>
            <a:ext cx="35204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사람 NPC (NavMesh 순찰)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고양이 (추적 AI)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자동차 (차선 주행)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발소리 근접 피드백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417320"/>
            <a:ext cx="3749039" cy="2331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5270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미션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1920240"/>
            <a:ext cx="35204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고정 미션 (약국·아이스크림)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랜덤 미션 3그룹 셔플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보너스·히든 미션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미션 체크리스트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931920"/>
            <a:ext cx="3749039" cy="2331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4041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튜토리얼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434840"/>
            <a:ext cx="35204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순차 메시지 큐 시스템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NPC 일시정지/재개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고양이 스폰 연출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Q키 스킵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749039" cy="2331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4041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4434840"/>
            <a:ext cx="35204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미니맵 + 마커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분노 게이지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스프린트·구르기 쿨다운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근접 패널 피드백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931920"/>
            <a:ext cx="3749039" cy="23317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4041648"/>
            <a:ext cx="3520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오디오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4434840"/>
            <a:ext cx="3520439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BGM 매니저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발소리 거리 감쇠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효과음 통합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볼륨 설정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03  개발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Development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11880" cy="4983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7315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8A169"/>
                </a:solidFill>
              </a:rPr>
              <a:t>1주차
맵 &amp; 이동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도시 맵 세팅 (SimplePoly City)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NavMesh 베이크 + NPC 패트롤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플레이어 이동 + 카메라 시스템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NPC 스폰 매니저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맵 경계 콜라이더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3611880" cy="4983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11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A623"/>
                </a:solidFill>
              </a:rPr>
              <a:t>2주차
게임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317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체력 시스템 + 무적 프레임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미션 매니저 (랜덤 배분)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UI 전체 (미니맵, 체력바 등)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오디오 매니저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분노 게이지 시스템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611880" cy="4983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3611880" cy="7315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50876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53E3E"/>
                </a:solidFill>
              </a:rPr>
              <a:t>3주차
폴리싱 &amp; 빌드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33172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튜토리얼 시스템 완성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고양이 / 자동차 NPC 추가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숙취 이펙트 + 비네팅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오디오 세부 조정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FFFF"/>
                </a:solidFill>
              </a:rPr>
              <a:t>✓ 최종 빌드 &amp; QA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19088"/>
            <a:ext cx="1127455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총 개발 기간: 약 3주  |  버전 관리: Git  |  빌드: dd2d880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04  구현 내용 — 플레이어 &amp; NPC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548640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80"/>
                </a:solidFill>
              </a:rPr>
              <a:t>🐜  플레이어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PlayerMovement.cs — Rigidbody 기반 이동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MoveMode 우선순위: Roll &gt; Crouch &gt; Sprint &gt; Move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구르기: 무적 0.7s + 쿨다운 5s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HashSet&lt;Collider&gt;로 다중 접지 판정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숙취 배수(_hangoverMultiplier)로 속도 디버프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AnimationLayer 2번으로 표정 전환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PlayerHealth — 체력 4칸 / 피격 무적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VignetteHealthController — 25% 이하 적색 비네팅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89888"/>
            <a:ext cx="548640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44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80"/>
                </a:solidFill>
              </a:rPr>
              <a:t>🚶  NPC 시스템 (3종)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사람 NPC — NavMeshAgent 순찰 + 발 콜라이더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NPCSpawnManager — 스폰 존별 랜덤 활성화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CrosswalkWaitZone — 횡단보도 신호 대기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고양이 — 플레이어 추적 AI (NavMesh)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  머리 위 CatHeadDamage 콜라이더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자동차 — CarMovement 차선 주행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  CarDrivingZone / CarStopZone 교통 신호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FootStompCollider — 근접 발소리 볼륨 감쇠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04  구현 내용 — 미션 &amp;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548640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80"/>
                </a:solidFill>
              </a:rPr>
              <a:t>📋  미션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MissionManager — 미션 풀 빌드 &amp; 타이머 배분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고정 미션: 약국(숙취해소제), 아이스크림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랜덤 미션 3그룹 (A/B/C) Fisher-Yates 셔플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보너스 미션: N개 완료 후 30s 딜레이로 해제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히든 미션: 꽃다발 (전체 완료 후 해제)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MissionItem.cs — IInteractive 구현, E키 픽업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MissionCheckListUI — 실시간 체크리스트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MissionMessageUI — 카카오톡 스타일 알림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89888"/>
            <a:ext cx="548640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44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80"/>
                </a:solidFill>
              </a:rPr>
              <a:t>🖥️  UI 시스템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HealthUI — 4칸 체력바 (25%씩)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AngryBarUI — 아내 분노 게이지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MinimapUI + MinimapMarker — 실시간 미니맵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SprintUI + CooldownBarUI — 스프린트/구르기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ProximityPanelFeedbackUI — NPC 근접 패널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MissionEntryUI — 미션 항목 체크 애니메이션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VolumeSettingsUI — BGM/SFX 독립 볼륨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▸ LocalizedText — CSV 기반 다국어(한/영)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04  구현 내용 — 튜토리얼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89888"/>
            <a:ext cx="713232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44752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80"/>
                </a:solidFill>
              </a:rPr>
              <a:t>튜토리얼 진행 흐름 (RunTutorial Coroutine)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① 분노 메시지 IntroQueued 대기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② 조작 안내: WASD → 마우스 → 기타 조작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③ 이동 존(SphereCollider) 이탈 감지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④ TUT_CAT_WARNING 슬라이드 + 고양이 스폰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⑤ 고양이 수명(_catLifetime) 후 게임 재개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⑥ 첫 미션(약국) 할당 &amp; 표시 대기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⑦ 미니맵·화살표 안내 → 약국 진입 대기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⑧ 숙취해소제 픽업 완료 대기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⑨ TUT_GOAL 메시지 → 다음 미션 ForceAssign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FFFFFF"/>
                </a:solidFill>
              </a:rPr>
              <a:t> Q키로 언제든 스킵 가능 (RunSkip 코루틴)</a:t>
            </a:r>
          </a:p>
        </p:txBody>
      </p:sp>
      <p:sp>
        <p:nvSpPr>
          <p:cNvPr id="8" name="Rectangle 7"/>
          <p:cNvSpPr/>
          <p:nvPr/>
        </p:nvSpPr>
        <p:spPr>
          <a:xfrm>
            <a:off x="7909560" y="1389888"/>
            <a:ext cx="3931920" cy="5029200"/>
          </a:xfrm>
          <a:prstGeom prst="rect">
            <a:avLst/>
          </a:prstGeom>
          <a:solidFill>
            <a:srgbClr val="0A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14447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</a:rPr>
              <a:t>설계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20240"/>
            <a:ext cx="3566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</a:rPr>
              <a:t>✦ 모든 NPC 튜토리얼 중 일시정지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</a:rPr>
              <a:t>✦ 플레이어 무적 상태 유지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</a:rPr>
              <a:t>✦ 게임오버 재시작 시 자동 스킵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</a:rPr>
              <a:t>✦ EnqueueAndWait — 메시지 표시 후
  다음 단계로 진행하는 핵심 패턴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CCCCCC"/>
                </a:solidFill>
              </a:rPr>
              <a:t>✦ 콜백 체인으로 이벤트 순서 보장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05  어려웠던 점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메시 콜라이더 물리 충돌 문제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5394960" cy="502920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3E3E"/>
                </a:solidFill>
              </a:rPr>
              <a:t>🔴  문제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도시 건물 에셋에 MeshCollider 기본 적용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Rigidbody 고속 이동 시 건물 벽 관통(터널링)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구르기 중 벽 모서리에서 건물 내부 진입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복잡한 도로 메시로 플레이어가 아래로 떨어짐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CCD 켜도 비볼록 메시에서 불안정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89888"/>
            <a:ext cx="2560320" cy="2331720"/>
          </a:xfrm>
          <a:prstGeom prst="rect">
            <a:avLst/>
          </a:prstGeom>
          <a:solidFill>
            <a:srgbClr val="1A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44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A169"/>
                </a:solidFill>
              </a:rPr>
              <a:t>⚙️  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874519"/>
            <a:ext cx="2331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▸ Unity 물리: 얇은 충돌체 고속 통과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▸ 비볼록 MeshCollider는 정적 전용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▸ Rigidbody + 빠른 속도 → 프레임 건너뜀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3840480"/>
            <a:ext cx="2560320" cy="2578608"/>
          </a:xfrm>
          <a:prstGeom prst="rect">
            <a:avLst/>
          </a:prstGeom>
          <a:solidFill>
            <a:srgbClr val="0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8953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8A169"/>
                </a:solidFill>
              </a:rPr>
              <a:t>✅  해결책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4325112"/>
            <a:ext cx="2331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✓ 건물: Box/Capsule Collider로 교체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✓ 도로: 평면 Box Collider 추가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✓ 맵 경계: 보이지 않는 BoxCollider 벽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✓ Rigidbody Collision Detection → Continuous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389888"/>
            <a:ext cx="2743200" cy="5029200"/>
          </a:xfrm>
          <a:prstGeom prst="rect">
            <a:avLst/>
          </a:prstGeom>
          <a:solidFill>
            <a:srgbClr val="1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44475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80"/>
                </a:solidFill>
              </a:rPr>
              <a:t>💡  교훈 &amp; 인사이트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→ 에셋 임포트 시 콜라이더
  설정 먼저 확인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→ 시각 메시 ≠ 충돌 메시
  (별도 설계 필요)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→ 단순 Primitive가 복잡
  MeshCollider보다 성능 유리</a:t>
            </a:r>
          </a:p>
          <a:p>
            <a:pPr>
              <a:spcAft>
                <a:spcPts val="500"/>
              </a:spcAft>
            </a:pPr>
            <a:r>
              <a:rPr sz="1300">
                <a:solidFill>
                  <a:srgbClr val="CCCCCC"/>
                </a:solidFill>
              </a:rPr>
              <a:t>→ 물리 문제는 초기에 잡을수록
  수정 비용이 적다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05  어려웠던 점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튜토리얼 메시지 큐 순서 &amp; 설계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89888"/>
            <a:ext cx="5394960" cy="5029200"/>
          </a:xfrm>
          <a:prstGeom prst="rect">
            <a:avLst/>
          </a:prstGeom>
          <a:solidFill>
            <a:srgbClr val="3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53E3E"/>
                </a:solidFill>
              </a:rPr>
              <a:t>🔴  문제 상황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튜토리얼 + 미션 메시지가 같은 UI 큐 공유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분노 메시지 큐잉 중 조작 안내가
  사이에 삽입 시도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약국 진입 전/후 타이밍에 따라
  아이템 안내 순서가 역전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스킵 시 남은 큐 메시지가
  게임 시작 후에도 계속 출력</a:t>
            </a:r>
          </a:p>
          <a:p>
            <a:pPr>
              <a:spcAft>
                <a:spcPts val="500"/>
              </a:spcAft>
            </a:pPr>
            <a:r>
              <a:rPr sz="1500">
                <a:solidFill>
                  <a:srgbClr val="FFAAAA"/>
                </a:solidFill>
              </a:rPr>
              <a:t>! EnqueueFront vs Enqueue 혼용으로
  의도치 않은 순서 발생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389888"/>
            <a:ext cx="5669280" cy="5029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780"/>
                </a:solidFill>
              </a:rPr>
              <a:t>🔧  설계 개선 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92024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[ 핵심 패턴 — EnqueueAndWait 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메시지를 큐에 넣고 콜백(_onSlideIn)으로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표시 완료를 감지 → 코루틴이 다음 단계 진행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[ 순서 충돌 해결 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분노 메시지 IntroQueued 플래그 대기 후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조작 안내 시작 (WaitUntil 패턴)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[ EnqueueFront 역순 삽입 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GLOW → PICKUP 역순 삽입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(Front 삽입은 스택처럼 뒤집히므로)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[ 스킵 시 ClearQueue() 호출 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큐 전체를 즉시 비운 뒤 RunSkip 코루틴 실행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[ 콜백 이중 등록 방지 ]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</a:rPr>
              <a:t>  완료 즉시 -= 로 이벤트 구독 해제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06  느낀점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Retrospective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80"/>
                </a:solidFill>
              </a:rPr>
              <a:t>🎮  게임 완성의 즐거움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94767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처음으로 빌드 가능한 게임을 완성했다는 성취감.
코드가 실제로 게임 오브젝트를 움직일 때 느끼는 즐거움은 색달랐다.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417320"/>
            <a:ext cx="56692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80"/>
                </a:solidFill>
              </a:rPr>
              <a:t>⚙️  시스템 설계의 중요성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94767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튜토리얼 메시지 큐 문제처럼, 작은 설계 실수가
나중에 큰 디버깅 비용으로 돌아왔다.
이벤트 구독·해제와 실행 순서를 처음부터 고려해야 한다.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31920"/>
            <a:ext cx="56692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0233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80"/>
                </a:solidFill>
              </a:rPr>
              <a:t>🔧  물리 엔진 이해 필요성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446227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MeshCollider 관통 문제로 Unity 물리의 한계를 직접 체감.
에셋을 그대로 쓰기보다 콜라이더 설정을 먼저 검토하는 습관이 생겼다.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931920"/>
            <a:ext cx="5669280" cy="2286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402335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780"/>
                </a:solidFill>
              </a:rPr>
              <a:t>🤝  범위 조정의 기술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462272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3주라는 짧은 기간 안에 Must 기능에 집중하고
Should/Could를 과감히 뒤로 미루는 결정이 중요했다.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D780"/>
                </a:solidFill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566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질문을 받겠습니다.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343400"/>
            <a:ext cx="1145743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44805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</a:rPr>
              <a:t>GitHub: Devel-Rocket-ClassRoom / minigame-project-smflsmfqh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</a:rPr>
              <a:t>Engine: Unity 6.3 (6000.3.15f1)  |  Pipeline: URP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CCCCCC"/>
                </a:solidFill>
              </a:rPr>
              <a:t>Build: dd2d880  |  Dev: 이하늘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760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</a:rPr>
              <a:t>감사합니다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3C6E"/>
                </a:solidFill>
              </a:rPr>
              <a:t>PROJECT
SUMMARY
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미션 시스템 — 전체 흐름 (이벤트 기반 아키텍처)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Mission Assigned → Message UI → Checklist → Pickup → Complete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29184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41732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MissionManager.Update()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71907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경과 시간 ≥ unlockTime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0195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29967"/>
            <a:ext cx="329184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75687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OnMissionAssigned 이벤트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377439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event Action&lt;ItemData&gt;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6032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88336"/>
            <a:ext cx="329184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273405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MissionMessageUI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03580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HandleMissionAssigned()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2186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346704"/>
            <a:ext cx="329184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339242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StringTableManager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369417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GetMissionMessage(itemName)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87705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005072"/>
            <a:ext cx="329184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05079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Queue&lt;MessageData&gt; + Coroutine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4352544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Enqueue → ProcessQueue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53542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63440"/>
            <a:ext cx="329184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4709159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패널 슬라이드 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79" y="5010912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Slide() + SFX 재생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1937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321808"/>
            <a:ext cx="329184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5367528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OnSlidedIn 이벤트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669280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event Action&lt;ItemData&gt;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85216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980176"/>
            <a:ext cx="329184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602589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MissionCheckListUI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79" y="6327648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HandleSlidedIn() → AddEntry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651052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638544"/>
            <a:ext cx="329184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668426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MissionEntryUI.Init()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79" y="6986016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체크리스트 항목 생성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1371600"/>
            <a:ext cx="7818120" cy="5074920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141732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</a:rPr>
              <a:t>픽업(E키) → 완료 흐름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1874519"/>
            <a:ext cx="3383280" cy="59436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59" y="1920239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PlayerController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59" y="2221991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E키 입력 감지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2468879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0520" y="2624327"/>
            <a:ext cx="3383280" cy="594360"/>
          </a:xfrm>
          <a:prstGeom prst="rect">
            <a:avLst/>
          </a:prstGeom>
          <a:solidFill>
            <a:srgbClr val="1A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59" y="2670047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MissionItem.Interact()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59" y="2971799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IInteractive 구현체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3218687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60520" y="3374135"/>
            <a:ext cx="3383280" cy="59436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51959" y="3419855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MissionManager
.ReportCollected()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59" y="3721607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itemName으로 완료 체크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0" y="39684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60520" y="4123944"/>
            <a:ext cx="3383280" cy="594360"/>
          </a:xfrm>
          <a:prstGeom prst="rect">
            <a:avLst/>
          </a:prstGeom>
          <a:solidFill>
            <a:srgbClr val="1A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59" y="4169663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OnMissionCompleted 이벤트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51959" y="447141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event Action&lt;ItemData&gt;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71830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60520" y="4873752"/>
            <a:ext cx="3383280" cy="594360"/>
          </a:xfrm>
          <a:prstGeom prst="rect">
            <a:avLst/>
          </a:prstGeom>
          <a:solidFill>
            <a:srgbClr val="28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51959" y="49194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MissionCheckListUI
.HandleMissionCompleted()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51959" y="522122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entry.Complete() 호출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15000" y="546811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60520" y="5623559"/>
            <a:ext cx="3383280" cy="594360"/>
          </a:xfrm>
          <a:prstGeom prst="rect">
            <a:avLst/>
          </a:prstGeom>
          <a:solidFill>
            <a:srgbClr val="1A0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51959" y="5669279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AAA"/>
                </a:solidFill>
              </a:rPr>
              <a:t>MissionEntryUI.Complete()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51959" y="5971031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체크아이콘 빨강 + 취소선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59352" y="1353312"/>
            <a:ext cx="45720" cy="5120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863840" y="1874519"/>
            <a:ext cx="3931920" cy="4553712"/>
          </a:xfrm>
          <a:prstGeom prst="rect">
            <a:avLst/>
          </a:prstGeom>
          <a:solidFill>
            <a:srgbClr val="10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028431" y="1920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8A169"/>
                </a:solidFill>
              </a:rPr>
              <a:t>핵심 설계 원칙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28431" y="2331720"/>
            <a:ext cx="3566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>이벤트 기반 느슨한 결합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onsolas"/>
              </a:rPr>
              <a:t>  MissionManager는 UI를 모름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onsolas"/>
              </a:rPr>
              <a:t>  UI는 MissionManager를 구독만 함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>단방향 데이터 흐름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onsolas"/>
              </a:rPr>
              <a:t>  Manager → Event → UI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>Queue로 메시지 순서 보장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onsolas"/>
              </a:rPr>
              <a:t>  동시에 여러 미션 할당돼도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onsolas"/>
              </a:rPr>
              <a:t>  하나씩 순차 표시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FFFFF"/>
                </a:solidFill>
              </a:rPr>
              <a:t>ItemData가 전체 파이프라인의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CCCCC"/>
                </a:solidFill>
                <a:latin typeface="Consolas"/>
              </a:rPr>
              <a:t>  단일 데이터 소스(SSOT)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미션 시스템 코드 흐름 ① — 할당 → 메시지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MissionManager → StringTableManager → MissionMessageUI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① MissionManager.Update()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19072"/>
            <a:ext cx="5486400" cy="1810512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92224"/>
            <a:ext cx="5321808" cy="1673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Update() — 매 프레임 경과 시간 체크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_elapsedTime += Time.deltaTime;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for (int i = 0; i &lt; _missionPool.Length; i++)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(!_assigned[i] &amp;&amp; _elapsedTime &gt;= _unlockTimes[i])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_assigned[i] = true;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OnMissionAssigned?.Invoke(_missionPool[i]); // ← 이벤트 발화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② StringTableManager — 텍스트 조회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806440" cy="1810512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92224"/>
            <a:ext cx="5641848" cy="1673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CSV 키: MISSION_{itemName}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public (string message, string sender)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GetMissionMessage(string itemName)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string key     = $"MISSION_{itemName}";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string message = _stringTable[key]; // 현지화 문장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string sender  = _senderTable[key]; // 발신자 이름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return (message, sender);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sender → 아이콘 이미지 경로도 조회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GetImageKeyBySender(sender) → Resources.Load&lt;Sprite&gt;(...)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③ MissionMessageUI — 큐 등록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77639"/>
            <a:ext cx="5486400" cy="2176272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50791"/>
            <a:ext cx="5321808" cy="2039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void HandleMissionAssigned(ItemData itemData)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var (message, sender) =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StringTableManager.Instance.GetMissionMessage(itemData.itemName);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Enqueue(new MessageData(message, sender, itemData)); // ← 큐 push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void Enqueue(MessageData data)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_queue.Enqueue(data);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(_slideCo == null)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    _slideCo = StartCoroutine(ProcessQueue());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④ ProcessQueue() — 슬라이드 인 &amp; 이벤트 발화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3977639"/>
            <a:ext cx="5806440" cy="2176272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050791"/>
            <a:ext cx="5641848" cy="2039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IEnumerator ProcessQueue()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while (_queue.Count &gt; 0)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var data = _queue.Dequeue();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_message.text    = data.Message;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_senderName.text = data.Sender;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_icon.sprite = Resources.Load&lt;Sprite&gt;(imageKey);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AudioManager.Instance?.PlaySFX(_slideInSound);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    yield return StartCoroutine(Slide(-panelW, 10f, dur));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OnSlidedIn?.Invoke(data.Item);        // ← 체크리스트 알림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MissionManager.Instance?.NotifyMissionDisplayed(data.Item);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yield return new WaitForSecondsRealtime(displayDuration);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    yield return StartCoroutine(Slide(0f, -panelW, dur));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_slideCo = null;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미션 시스템 코드 흐름 ② — 체크리스트 등록 → 픽업 완료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MissionCheckListUI → MissionEntryUI → MissionItem →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⑤ MissionCheckListUI — 항목 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19072"/>
            <a:ext cx="5577840" cy="333756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92224"/>
            <a:ext cx="5413248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void HandleSlidedIn(ItemData item)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(item == null) return; // 분노·튜토리얼 메시지 무시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AddEntry(item);  // 체크리스트에 항목 추가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Peek();          // 리스트 3초 표시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void AddEntry(ItemData item)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var go    = Instantiate(_entryPrefab, _entryContainer);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var entry = go.GetComponent&lt;MissionEntryUI&gt;();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entry.Init(item);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_entries.Add(entry);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IEnumerator PeekCoroutine()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_listPanel.SetActive(true);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yield return new WaitForSeconds(3f);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(!_isOpen) _listPanel.SetActive(false);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⑥ MissionEntryUI.Init()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806440" cy="2029968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92224"/>
            <a:ext cx="5641848" cy="1892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public void Init(ItemData item)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_item = item;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_missionNameText.text =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StringTableManager.Instance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.GetItemDisplayName(item.itemName);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//  키: ITEM_{ITEMNAME}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_checkIcon.gameObject.SetActive(true);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_strikeThrough.SetActive(false);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38587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⑦ MissionItem.Interact() — E키 픽업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4187952"/>
            <a:ext cx="5806440" cy="182880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4261104"/>
            <a:ext cx="5641848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public void Interact(PlayerController player)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player.PlayPickupSound();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foreach (var fx in _itemData.effects) fx.Apply(player);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(_itemData.category == ItemCategory.Mission)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MissionManager.Instance.ReportCollected(_itemData.itemName);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_camera?.TriggerReactionCut(0.6f);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_playerMovement.SetFaceHappy();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GameManager.Instance.AddScore(100);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Destroy(gameObject);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148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⑧ ReportCollected → OnMissionCompleted → UI 완료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468112"/>
            <a:ext cx="5577840" cy="713232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5541264"/>
            <a:ext cx="5413248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MissionManager: _completed[i]=true; OnMissionCompleted?.Invoke(...);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MissionCheckListUI: entry?.Complete();  Peek();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MissionEntryUI.Complete()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_checkIcon.color = Color.red;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_strikeThrough.SetActive(true);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NPC 시스템 — 전체 구조 (3종 NPC)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Human · Cat · Car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3657600" cy="420624"/>
          </a:xfrm>
          <a:prstGeom prst="rect">
            <a:avLst/>
          </a:prstGeom>
          <a:solidFill>
            <a:srgbClr val="0A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🚶  사람 NPC</a:t>
            </a:r>
          </a:p>
        </p:txBody>
      </p:sp>
      <p:sp>
        <p:nvSpPr>
          <p:cNvPr id="8" name="Rectangle 7"/>
          <p:cNvSpPr/>
          <p:nvPr/>
        </p:nvSpPr>
        <p:spPr>
          <a:xfrm>
            <a:off x="4187952" y="1353312"/>
            <a:ext cx="3657600" cy="420624"/>
          </a:xfrm>
          <a:prstGeom prst="rect">
            <a:avLst/>
          </a:prstGeom>
          <a:solidFill>
            <a:srgbClr val="1A1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🐱  고양이 NPC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53312"/>
            <a:ext cx="3657600" cy="420624"/>
          </a:xfrm>
          <a:prstGeom prst="rect">
            <a:avLst/>
          </a:prstGeom>
          <a:solidFill>
            <a:srgbClr val="101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80"/>
                </a:solidFill>
              </a:rPr>
              <a:t>🚗  자동차 NPC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74519"/>
            <a:ext cx="365760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9202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NPCSpawnManager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221991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Start() — 존별 풀 초기화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4048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78024"/>
            <a:ext cx="365760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5237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InitZonePool(zone)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282549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Queue&lt;NPCMovement&gt;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00837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081528"/>
            <a:ext cx="365760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31272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SpawnInZone(zone)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42900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풀에서 꺼내 NavMesh 위에 배치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3611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685031"/>
            <a:ext cx="365760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730751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NPCSpawnZone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032503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TryGetSpawnPoint() — BoxCollider 내 랜덤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4215383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288536"/>
            <a:ext cx="365760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334255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NPCMovement.SetupPatrol
/ SetupRunner()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79" y="4636007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타입·속도·영역 설정 후 첫 목적지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8188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92040"/>
            <a:ext cx="365760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79" y="493775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SetNextRandom
Destination()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23951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NavMesh.SamplePosition → SetDestination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422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495544"/>
            <a:ext cx="3657600" cy="530352"/>
          </a:xfrm>
          <a:prstGeom prst="rect">
            <a:avLst/>
          </a:prstGeom>
          <a:solidFill>
            <a:srgbClr val="1A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55412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CrosswalkWaitZone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584301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신호 CarGreen → SetExternalPause(true)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65960" y="60258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099048"/>
            <a:ext cx="3657600" cy="530352"/>
          </a:xfrm>
          <a:prstGeom prst="rect">
            <a:avLst/>
          </a:prstGeom>
          <a:solidFill>
            <a:srgbClr val="0A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6144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80"/>
                </a:solidFill>
              </a:rPr>
              <a:t>FootStompCollider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79" y="644652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OnTriggerEnter → TakeDamage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87952" y="1874519"/>
            <a:ext cx="3657600" cy="530352"/>
          </a:xfrm>
          <a:prstGeom prst="rect">
            <a:avLst/>
          </a:prstGeom>
          <a:solidFill>
            <a:srgbClr val="2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79392" y="192023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B0FF"/>
                </a:solidFill>
              </a:rPr>
              <a:t>CatSpawnManager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9392" y="2221991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Start() — 스폰 포인트 배치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3872" y="24048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7952" y="2478024"/>
            <a:ext cx="3657600" cy="530352"/>
          </a:xfrm>
          <a:prstGeom prst="rect">
            <a:avLst/>
          </a:prstGeom>
          <a:solidFill>
            <a:srgbClr val="1A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79392" y="252374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CatMovement.Setup()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79392" y="282549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NavMesh areaMask (Road 제외)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3872" y="300837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87952" y="3081528"/>
            <a:ext cx="3657600" cy="530352"/>
          </a:xfrm>
          <a:prstGeom prst="rect">
            <a:avLst/>
          </a:prstGeom>
          <a:solidFill>
            <a:srgbClr val="2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9392" y="312724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B0FF"/>
                </a:solidFill>
              </a:rPr>
              <a:t>State.Wander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79392" y="342900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UpdateWander — 반경 내 랜덤 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33872" y="3611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87952" y="3685031"/>
            <a:ext cx="3657600" cy="530352"/>
          </a:xfrm>
          <a:prstGeom prst="rect">
            <a:avLst/>
          </a:prstGeom>
          <a:solidFill>
            <a:srgbClr val="1A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79392" y="3730751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Physics.CheckSphere()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79392" y="4032503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detectionRadius 내 Player 감지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33872" y="4215383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87952" y="4288536"/>
            <a:ext cx="3657600" cy="530352"/>
          </a:xfrm>
          <a:prstGeom prst="rect">
            <a:avLst/>
          </a:prstGeom>
          <a:solidFill>
            <a:srgbClr val="2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79392" y="4334255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B0FF"/>
                </a:solidFill>
              </a:rPr>
              <a:t>State.Chase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79392" y="4636007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UpdateChase — SetDestination(player)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33872" y="48188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87952" y="4892040"/>
            <a:ext cx="3657600" cy="530352"/>
          </a:xfrm>
          <a:prstGeom prst="rect">
            <a:avLst/>
          </a:prstGeom>
          <a:solidFill>
            <a:srgbClr val="1A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79392" y="4937759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TryAttack()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79392" y="5239512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attackRadius + 쿨다운 → AttackRoutine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33872" y="5422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187952" y="5495544"/>
            <a:ext cx="3657600" cy="530352"/>
          </a:xfrm>
          <a:prstGeom prst="rect">
            <a:avLst/>
          </a:prstGeom>
          <a:solidFill>
            <a:srgbClr val="281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79392" y="5541264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0B0FF"/>
                </a:solidFill>
              </a:rPr>
              <a:t>IsCrouching 체크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79392" y="5843016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웅크리기 중이면 Chase 진입 안 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33872" y="60258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87952" y="6099048"/>
            <a:ext cx="3657600" cy="530352"/>
          </a:xfrm>
          <a:prstGeom prst="rect">
            <a:avLst/>
          </a:prstGeom>
          <a:solidFill>
            <a:srgbClr val="1A0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79392" y="6144768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CatHeadDamage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279392" y="6446520"/>
            <a:ext cx="3520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머리 콜라이더 → 데미지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1874519"/>
            <a:ext cx="3822191" cy="530352"/>
          </a:xfrm>
          <a:prstGeom prst="rect">
            <a:avLst/>
          </a:prstGeom>
          <a:solidFill>
            <a:srgbClr val="1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1920239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FF90"/>
                </a:solidFill>
              </a:rPr>
              <a:t>CarSpawnManager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38160" y="2221991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Start() — 차선별 스폰 설정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84080" y="240487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2478024"/>
            <a:ext cx="3822191" cy="530352"/>
          </a:xfrm>
          <a:prstGeom prst="rect">
            <a:avLst/>
          </a:prstGeom>
          <a:solidFill>
            <a:srgbClr val="0A1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38160" y="2523744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LaneSpawnConfig[]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0" y="2825496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drivingZone·laneIndex·count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84080" y="300837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46720" y="3081528"/>
            <a:ext cx="3822191" cy="530352"/>
          </a:xfrm>
          <a:prstGeom prst="rect">
            <a:avLst/>
          </a:prstGeom>
          <a:solidFill>
            <a:srgbClr val="1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138160" y="3127248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FF90"/>
                </a:solidFill>
              </a:rPr>
              <a:t>SpawnCarsInLane()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38160" y="3429000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웨이포인트 간격으로 랜덤 배치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784080" y="361188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46720" y="3685031"/>
            <a:ext cx="3822191" cy="530352"/>
          </a:xfrm>
          <a:prstGeom prst="rect">
            <a:avLst/>
          </a:prstGeom>
          <a:solidFill>
            <a:srgbClr val="0A1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3730751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CarDrivingZone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38160" y="4032503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_lanes[lane][wp] — Transform 계층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784080" y="4215383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0" y="4288536"/>
            <a:ext cx="3822191" cy="530352"/>
          </a:xfrm>
          <a:prstGeom prst="rect">
            <a:avLst/>
          </a:prstGeom>
          <a:solidFill>
            <a:srgbClr val="1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138160" y="4334255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FF90"/>
                </a:solidFill>
              </a:rPr>
              <a:t>CarMovement.DriveCar()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38160" y="4636007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MoveTowards → 웨이포인트 순환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84080" y="48188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46720" y="4892040"/>
            <a:ext cx="3822191" cy="530352"/>
          </a:xfrm>
          <a:prstGeom prst="rect">
            <a:avLst/>
          </a:prstGeom>
          <a:solidFill>
            <a:srgbClr val="0A1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38160" y="4937759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CarStopZone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38160" y="5239512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OnTriggerEnter → OnEnterStopZone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84080" y="542239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46720" y="5495544"/>
            <a:ext cx="3822191" cy="530352"/>
          </a:xfrm>
          <a:prstGeom prst="rect">
            <a:avLst/>
          </a:prstGeom>
          <a:solidFill>
            <a:srgbClr val="10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38160" y="5541264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0FF90"/>
                </a:solidFill>
              </a:rPr>
              <a:t>CarState.Stop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38160" y="5843016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_waitTimer 후 Running 복귀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84080" y="602589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A623"/>
                </a:solidFill>
              </a:rPr>
              <a:t>▼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46720" y="6099048"/>
            <a:ext cx="3822191" cy="530352"/>
          </a:xfrm>
          <a:prstGeom prst="rect">
            <a:avLst/>
          </a:prstGeom>
          <a:solidFill>
            <a:srgbClr val="0A1C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138160" y="6144768"/>
            <a:ext cx="368503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경적 볼륨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38160" y="6446520"/>
            <a:ext cx="368503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ProximityFeedback.DangerRadius 기반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NPC 코드 흐름 ① — 사람 NPC 스폰 &amp; 이동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NPCSpawnManager → NPCSpawnZone → NPCMovement → CrosswalkWaitZone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① NPCSpawnManager — 오브젝트 풀 생성 &amp; 스폰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19072"/>
            <a:ext cx="5623560" cy="2212848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92224"/>
            <a:ext cx="545896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foreach (var zone in _spawnZones)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InitZonePool(zone);   // Queue&lt;NPCMovement&gt; 생성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SpawnInZone(zone);    // NavMesh 위에 활성화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void InitZonePool(NPCSpawnZone zone)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int count = Random.Range(_minNpcsPerZone, _maxNPCsPerZone);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for (int i = 0; i &lt; count; i++)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var npc = Instantiate(_npcPrefabs[i % _npcPrefabs.Count]);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npc.gameObject.SetActive(false);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pool.Enqueue(npc);  // 비활성 상태로 큐에 적재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② SpawnInZone — NavMesh 위에 배치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719072"/>
            <a:ext cx="5806440" cy="2212848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792224"/>
            <a:ext cx="5641848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void SpawnInZone(NPCSpawnZone zone)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while (pool.Count &gt; 0)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if (!zone.TryGetSpawnPoint(walkable, out Vector3 pos)) break;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var npc = pool.Dequeue();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npc.transform.position = pos;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npc.gameObject.SetActive(true);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    customizer.ApplyRandomVisuals(_visualData);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if (Random.value &lt; _patrolPercent)  // 70% Patrol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    npc.SetupPatrol(pos, zone.Size.x, zone.Size.z);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else                                // 30% Runner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    npc.SetupRunner(pos, zone.Size.x, zone.Size.z);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041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③ NPCMovement.UpdateMovement — Patrol / Runner 공통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370832"/>
            <a:ext cx="5623560" cy="228600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443984"/>
            <a:ext cx="5458968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void UpdateMovement()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(_externallyPaused) return;  // CrosswalkWaitZone 대기 중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CheckStuck(); // 1.5s 이상 속도≈0 → 새 목적지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(_waiting)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_waitTimer -= Time.deltaTime;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if (_waitTimer &lt;= 0f) { _waiting=false; SetNextRandomDestination();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return;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if (HasArrived())  // remainingDistance ≤ stoppingDistance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 _agent.isStopped=true; _waiting=true; _waitTimer=_currentWaitTime;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Patrol: speed 2.5 / wait 1s    Runner: speed 5 / wait 0.5s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0416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④ CrosswalkWaitZone — 신호등 연동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370832"/>
            <a:ext cx="5806440" cy="228600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443984"/>
            <a:ext cx="5641848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IEnumerator CycleRoutine()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while (true)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_signal = SignalState.CarGreen;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yield return new WaitForSeconds(_carGreenDuration);   // 8s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    _signal = SignalState.PedestrianGreen;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ReleaseAll();   // SetExternalPause(false)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yield return new WaitForSeconds(_pedestrianGreenDuration); // 5s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A657"/>
                </a:solidFill>
                <a:latin typeface="Consolas"/>
              </a:rPr>
              <a:t>private void OnTriggerEnter(Collider other)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(_signal != SignalState.CarGreen) return;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npc.SetExternalPause(true);  // ← 이동 전체 정지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D780"/>
                </a:solidFill>
              </a:rPr>
              <a:t>NPC 코드 흐름 ② — 고양이 상태 기계 &amp; 자동차 웨이포인트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CCCCC"/>
                </a:solidFill>
              </a:rPr>
              <a:t>CatMovement (Wander↔Chase) · CarMovement (Waypoint Loop)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🐱  CatMovement — Wander ↔ Chase 상태 기계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19072"/>
            <a:ext cx="5623560" cy="320040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92224"/>
            <a:ext cx="5458968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void Update()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bool detected = Physics.CheckSphere(transform.position,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                _detectionRadius, _playerLayer)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         &amp;&amp; !_playerMovement.IsCrouching;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if  (detected &amp;&amp; _state != State.Chase)  EnterChase();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if (!detected &amp;&amp; _state != State.Wander) EnterWander();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switch (_state)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case State.Chase:  UpdateChase();  break;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case State.Wander: UpdateWander(); break;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private void UpdateChase()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_agent.SetDestination(_player.transform.position);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TryAttack(); // attackRadius + 쿨다운(5s) 충족 시 Eat 애니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0109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Wander — SetWanderTarget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5330952"/>
            <a:ext cx="5623560" cy="123444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5404104"/>
            <a:ext cx="5458968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void SetWanderTarget()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for (int i = 0; i &lt; 10; i++)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Vector3 rnd = transform.position + Random.insideUnitSphere * _wanderRadius;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if (NavMesh.SamplePosition(rnd, out NavMeshHit hit, _wanderRadius, _walkableMask))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{ _agent.SetDestination(hit.position); return;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🚗  CarDrivingZone — 차선 계층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719072"/>
            <a:ext cx="5806440" cy="2633472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792224"/>
            <a:ext cx="5641848" cy="2496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씬 계층: CarDrivingZone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  ├ Lane_0  ├ Lane_1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      ├ Waypoint_0, Waypoint_1 ...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Awake() — Transform 이중 배열로 파싱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_lanes = new Transform[transform.childCount][];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for (int i = 0; i &lt; transform.childCount; i++) 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Transform lane = transform.GetChild(i);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_lanes[i] = new Transform[lane.childCount];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for (int j = 0; j &lt; lane.childCount; j++)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_lanes[i][j] = lane.GetChild(j);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// 오프셋 적용 위치 반환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public Vector3 GetWaypointPosition(int lane, int wp, float offset)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=&gt; _lanes[lane][wp].position + wp.right * (offset * _laneWidth);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CarMovement — 웨이포인트 순환 &amp; CarStopZone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4782312"/>
            <a:ext cx="5806440" cy="1828800"/>
          </a:xfrm>
          <a:prstGeom prst="rect">
            <a:avLst/>
          </a:prstGeom>
          <a:solidFill>
            <a:srgbClr val="0D14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55464"/>
            <a:ext cx="5641848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private void DriveCar()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transform.position = Vector3.MoveTowards(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    transform.position, _currentDestination, _carSpeed * dt);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FFE06A"/>
                </a:solidFill>
                <a:latin typeface="Consolas"/>
              </a:rPr>
              <a:t>    if (dist &lt;= _waypointReachDistance)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6AFF80"/>
                </a:solidFill>
                <a:latin typeface="Consolas"/>
              </a:rPr>
              <a:t>        _waypointIndex = (_waypointIndex + 1) % _path.GetWaypointCount(_laneIndex);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D2A8FF"/>
                </a:solidFill>
                <a:latin typeface="Consolas"/>
              </a:rPr>
              <a:t>public void OnEnterStopZone(CarStopZone zone)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{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if (_lastStopZone == zone) return;  // 중복 정지 방지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    _state = CarState.Stop;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79C0FF"/>
                </a:solidFill>
                <a:latin typeface="Consolas"/>
              </a:rPr>
              <a:t>    _waitTimer = _waitTime;             // 7s 후 Running 복귀</a:t>
            </a:r>
          </a:p>
          <a:p>
            <a:pPr>
              <a:spcAft>
                <a:spcPts val="100"/>
              </a:spcAft>
            </a:pPr>
            <a:r>
              <a:rPr sz="1200">
                <a:solidFill>
                  <a:srgbClr val="8B949E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